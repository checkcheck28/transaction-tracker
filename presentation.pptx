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Garamond" panose="02020404030301010803" pitchFamily="18" charset="0"/>
      <p:regular r:id="rId19"/>
      <p:bold r:id="rId20"/>
      <p:italic r:id="rId21"/>
    </p:embeddedFont>
    <p:embeddedFont>
      <p:font typeface="Plus Jakarta Sans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jha" userId="17feb7f1eddc4409" providerId="LiveId" clId="{DBD7919B-8523-4A56-A1BB-52D8C1DADAE4}"/>
    <pc:docChg chg="custSel modSld">
      <pc:chgData name="prakash jha" userId="17feb7f1eddc4409" providerId="LiveId" clId="{DBD7919B-8523-4A56-A1BB-52D8C1DADAE4}" dt="2026-10-10T11:06:04.672" v="123" actId="14100"/>
      <pc:docMkLst>
        <pc:docMk/>
      </pc:docMkLst>
      <pc:sldChg chg="modSp mod">
        <pc:chgData name="prakash jha" userId="17feb7f1eddc4409" providerId="LiveId" clId="{DBD7919B-8523-4A56-A1BB-52D8C1DADAE4}" dt="2026-10-10T10:57:32.657" v="76" actId="20577"/>
        <pc:sldMkLst>
          <pc:docMk/>
          <pc:sldMk cId="0" sldId="256"/>
        </pc:sldMkLst>
        <pc:spChg chg="mod">
          <ac:chgData name="prakash jha" userId="17feb7f1eddc4409" providerId="LiveId" clId="{DBD7919B-8523-4A56-A1BB-52D8C1DADAE4}" dt="2026-10-10T10:57:32.657" v="76" actId="20577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prakash jha" userId="17feb7f1eddc4409" providerId="LiveId" clId="{DBD7919B-8523-4A56-A1BB-52D8C1DADAE4}" dt="2026-10-10T11:06:04.672" v="123" actId="14100"/>
        <pc:sldMkLst>
          <pc:docMk/>
          <pc:sldMk cId="0" sldId="258"/>
        </pc:sldMkLst>
        <pc:spChg chg="mod">
          <ac:chgData name="prakash jha" userId="17feb7f1eddc4409" providerId="LiveId" clId="{DBD7919B-8523-4A56-A1BB-52D8C1DADAE4}" dt="2026-10-10T11:01:32.539" v="91" actId="14100"/>
          <ac:spMkLst>
            <pc:docMk/>
            <pc:sldMk cId="0" sldId="258"/>
            <ac:spMk id="2" creationId="{00000000-0000-0000-0000-000000000000}"/>
          </ac:spMkLst>
        </pc:spChg>
        <pc:spChg chg="del">
          <ac:chgData name="prakash jha" userId="17feb7f1eddc4409" providerId="LiveId" clId="{DBD7919B-8523-4A56-A1BB-52D8C1DADAE4}" dt="2026-10-10T11:01:10.940" v="86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prakash jha" userId="17feb7f1eddc4409" providerId="LiveId" clId="{DBD7919B-8523-4A56-A1BB-52D8C1DADAE4}" dt="2026-10-10T11:01:43.943" v="92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prakash jha" userId="17feb7f1eddc4409" providerId="LiveId" clId="{DBD7919B-8523-4A56-A1BB-52D8C1DADAE4}" dt="2026-10-10T11:03:09.543" v="103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rakash jha" userId="17feb7f1eddc4409" providerId="LiveId" clId="{DBD7919B-8523-4A56-A1BB-52D8C1DADAE4}" dt="2026-10-10T11:06:04.672" v="123" actId="14100"/>
          <ac:spMkLst>
            <pc:docMk/>
            <pc:sldMk cId="0" sldId="258"/>
            <ac:spMk id="14" creationId="{00000000-0000-0000-0000-000000000000}"/>
          </ac:spMkLst>
        </pc:spChg>
        <pc:spChg chg="del">
          <ac:chgData name="prakash jha" userId="17feb7f1eddc4409" providerId="LiveId" clId="{DBD7919B-8523-4A56-A1BB-52D8C1DADAE4}" dt="2026-10-10T11:01:20.470" v="88" actId="478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prakash jha" userId="17feb7f1eddc4409" providerId="LiveId" clId="{DBD7919B-8523-4A56-A1BB-52D8C1DADAE4}" dt="2026-10-10T11:01:15.854" v="87" actId="47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rakash jha" userId="17feb7f1eddc4409" providerId="LiveId" clId="{DBD7919B-8523-4A56-A1BB-52D8C1DADAE4}" dt="2026-10-10T11:04:01.856" v="105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rakash jha" userId="17feb7f1eddc4409" providerId="LiveId" clId="{DBD7919B-8523-4A56-A1BB-52D8C1DADAE4}" dt="2026-10-10T11:02:49.241" v="101" actId="1076"/>
          <ac:spMkLst>
            <pc:docMk/>
            <pc:sldMk cId="0" sldId="258"/>
            <ac:spMk id="18" creationId="{00000000-0000-0000-0000-000000000000}"/>
          </ac:spMkLst>
        </pc:spChg>
        <pc:picChg chg="del">
          <ac:chgData name="prakash jha" userId="17feb7f1eddc4409" providerId="LiveId" clId="{DBD7919B-8523-4A56-A1BB-52D8C1DADAE4}" dt="2026-10-10T11:01:23.910" v="89" actId="478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prakash jha" userId="17feb7f1eddc4409" providerId="LiveId" clId="{DBD7919B-8523-4A56-A1BB-52D8C1DADAE4}" dt="2026-10-10T11:02:24.863" v="97" actId="1076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prakash jha" userId="17feb7f1eddc4409" providerId="LiveId" clId="{DBD7919B-8523-4A56-A1BB-52D8C1DADAE4}" dt="2026-10-10T11:02:09.370" v="95" actId="1076"/>
          <ac:picMkLst>
            <pc:docMk/>
            <pc:sldMk cId="0" sldId="258"/>
            <ac:picMk id="8" creationId="{00000000-0000-0000-0000-000000000000}"/>
          </ac:picMkLst>
        </pc:picChg>
        <pc:picChg chg="del">
          <ac:chgData name="prakash jha" userId="17feb7f1eddc4409" providerId="LiveId" clId="{DBD7919B-8523-4A56-A1BB-52D8C1DADAE4}" dt="2026-10-10T11:01:27.558" v="90" actId="478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prakash jha" userId="17feb7f1eddc4409" providerId="LiveId" clId="{DBD7919B-8523-4A56-A1BB-52D8C1DADAE4}" dt="2026-10-10T11:02:20.642" v="96" actId="1076"/>
          <ac:picMkLst>
            <pc:docMk/>
            <pc:sldMk cId="0" sldId="258"/>
            <ac:picMk id="10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83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4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88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67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01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8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974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315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3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3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163">
              <a:schemeClr val="bg2">
                <a:lumMod val="10000"/>
              </a:schemeClr>
            </a:gs>
            <a:gs pos="74000">
              <a:schemeClr val="bg2">
                <a:lumMod val="1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14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475669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1D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425154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IN" sz="4200" b="1" dirty="0">
                <a:solidFill>
                  <a:srgbClr val="FFFFFF"/>
                </a:solidFill>
                <a:latin typeface="Plus Jakarta Sans"/>
              </a:rPr>
              <a:t>Transaction Tracker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: Automated Expense Tracker &amp; Debt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42295"/>
            <a:ext cx="6000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Turn monthly bank statements into clear daily insights, automated spend breakdowns, and real-time liability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063204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SMART FINANCIAL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11648"/>
            <a:ext cx="3117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37025" y="2825948"/>
            <a:ext cx="311780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12050" y="2711648"/>
            <a:ext cx="3117800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925" y="3102173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00" y="3854648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51" y="3216473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425" y="3854648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7976" y="3102173"/>
            <a:ext cx="685800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0813" y="3311723"/>
            <a:ext cx="2000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2501" y="3426023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8476" y="3311723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Seamless transformation of raw financial data into actionable intelligence.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395" y="4016573"/>
            <a:ext cx="32670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Bank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181" y="4378523"/>
            <a:ext cx="3111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Monthly transactional ledger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420" y="4130873"/>
            <a:ext cx="32670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Smart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206" y="4492823"/>
            <a:ext cx="3111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Automatic categorization engine.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446" y="4016573"/>
            <a:ext cx="32670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Plus Jakarta Sans"/>
              </a:rPr>
              <a:t>Daily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231" y="4378523"/>
            <a:ext cx="31114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Granular spend analytics in rupees.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3675"/>
            <a:ext cx="4759375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1" y="2733675"/>
            <a:ext cx="5334148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261" y="3011632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0" y="3259282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136" y="319520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Step 1: Bank Statement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Secure intake and raw extraction of monthly financial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50" y="3845718"/>
            <a:ext cx="23284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Multi-Format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6850" y="4271962"/>
            <a:ext cx="2918114" cy="467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Ingest monthly statements in PDF, CSV, </a:t>
            </a:r>
            <a:r>
              <a:rPr lang="en-IN" sz="1200" dirty="0">
                <a:solidFill>
                  <a:srgbClr val="64748B"/>
                </a:solidFill>
                <a:latin typeface="Plus Jakarta Sans"/>
              </a:rPr>
              <a:t>and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Excel</a:t>
            </a:r>
            <a:r>
              <a:rPr lang="en-IN" sz="1200" b="0" i="0" u="none" dirty="0">
                <a:solidFill>
                  <a:srgbClr val="64748B"/>
                </a:solidFill>
                <a:latin typeface="Plus Jakarta Sans"/>
              </a:rPr>
              <a:t>(future)</a:t>
            </a: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 formats directly from top banks.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0933" y="3845718"/>
            <a:ext cx="232307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0F172A"/>
                </a:solidFill>
                <a:latin typeface="Plus Jakarta Sans"/>
              </a:rPr>
              <a:t>Raw Data Sanitization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0933" y="4202906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Standardize transaction timestamps, debit values, and vendor reference strings.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64010"/>
            <a:ext cx="5514975" cy="280987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19875" y="2673548"/>
            <a:ext cx="481012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19875" y="4083248"/>
            <a:ext cx="481012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4425" y="3345060"/>
            <a:ext cx="4810125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14425" y="4249935"/>
            <a:ext cx="4810125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0" y="2911673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0" y="4321373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Step 2: Smart Parsing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Converting cryptic merchant logs into clean structured line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2916435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Matching &amp; Classification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911673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321373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3526035"/>
            <a:ext cx="5560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MERCHANT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35585"/>
            <a:ext cx="5560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ospace"/>
              </a:rPr>
              <a:t>`POS_REF_2841_CAFE` → "Cafe Refresh"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430910"/>
            <a:ext cx="5560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AUTOMATED TAGGING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640460"/>
            <a:ext cx="5560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₹200 Soft Drink → Beverages &amp; Food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600" y="2911673"/>
            <a:ext cx="4724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Regex &amp; NLP 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600" y="3187898"/>
            <a:ext cx="38195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Extract precise rupee values regardless of bank-specific statement layout.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600" y="4321373"/>
            <a:ext cx="4724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Category Taxonomy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600" y="4597598"/>
            <a:ext cx="38195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Assign transactions to pre-defined or custom expense categories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51695"/>
            <a:ext cx="3378249" cy="2234505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851695"/>
            <a:ext cx="3378249" cy="2234505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20412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320412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587" y="334699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6537" y="3228975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2911" y="3346995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Architecture Step 3: Daily Insights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Transforming parsed records into continuous daily financial visibility.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92802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Daily Aggregations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261395"/>
            <a:ext cx="2768649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Sum daily outflow totals in rupees to highlight high-spending days.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Flag unexpected spikes or recurring hidden subscription fees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92802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Ledger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261395"/>
            <a:ext cx="2768649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Seamlessly correlate parsed bank transfers with peer debt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6793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296793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112" y="3110805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674" y="3228975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199" y="311080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Problems Faced Without Expense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Key challenges individuals encounter when financial logging is absent or manual.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Unnoticed Micro-Expenses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Small daily purchases (e.g. ₹200 soft drinks or snacks) quietly drain monthly savings without leaving a trace.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Unrecorded Peer Debts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Informal money lent to or borrowed from colleagues easily slips memory, leading to lost financial receivables.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Tedious Manual Auditing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Sifting through 10+ pages of bank statements manually at month-end is tedious, prone to error, and time-consuming.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614612"/>
            <a:ext cx="3378249" cy="2708820"/>
          </a:xfrm>
          <a:prstGeom prst="roundRect">
            <a:avLst>
              <a:gd name="adj" fmla="val 7032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6793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6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2967037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587" y="311080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49" y="32289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3109912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Strategic Importance &amp; Solution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How automated statement processing empowers smart personal finance.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 Manual Logging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Simply upload your monthly PDF statement — smart algorithms parse and categorize every transaction in seconds.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Instant Budget 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Get granular daily breakdowns and monthly totals instantly to maintain complete control over spend habits.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690937"/>
            <a:ext cx="290708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Complete Debt Liability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262437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Keep precise dual ledgers for money owed vs receivables to avoid missed repayments or unsettled debts.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44985"/>
            <a:ext cx="5514975" cy="2447925"/>
          </a:xfrm>
          <a:prstGeom prst="roundRect">
            <a:avLst>
              <a:gd name="adj" fmla="val 77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14425" y="3526035"/>
            <a:ext cx="4810125" cy="1314450"/>
          </a:xfrm>
          <a:prstGeom prst="roundRect">
            <a:avLst>
              <a:gd name="adj" fmla="val 1014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19875" y="2780704"/>
            <a:ext cx="481012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19875" y="4190404"/>
            <a:ext cx="4810125" cy="966787"/>
          </a:xfrm>
          <a:prstGeom prst="roundRect">
            <a:avLst>
              <a:gd name="adj" fmla="val 157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0" y="3018829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0" y="4428529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Statement Intake &amp;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Extracting exact transactional context from monthly logs.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097410"/>
            <a:ext cx="631328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Raw Statement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3754635"/>
            <a:ext cx="44481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F8FAFC"/>
                </a:solidFill>
                <a:latin typeface="monospace"/>
              </a:rPr>
              <a:t>12/10/2026 - CAFE REFRESH - </a:t>
            </a:r>
            <a:r>
              <a:rPr sz="1125" b="1" i="0" u="none">
                <a:solidFill>
                  <a:srgbClr val="F43F5E"/>
                </a:solidFill>
                <a:latin typeface="monospace"/>
              </a:rPr>
              <a:t>₹200.00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monospace"/>
              </a:rPr>
              <a:t> 12/10/2026 - SUPERMARKET - ₹1,450.00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monospace"/>
              </a:rPr>
              <a:t> 13/10/2026 - FUEL STATION - ₹3,000.00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018829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428529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7600" y="3018829"/>
            <a:ext cx="4724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Instant Itemization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600" y="3295054"/>
            <a:ext cx="38195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Soft drink purchase of ₹200 categorized under Beverages.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0" y="4428529"/>
            <a:ext cx="462557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7600" y="4704754"/>
            <a:ext cx="4405312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Vendor names resolved to readable merchant titles.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782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5782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25782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0260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1500" y="40260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4026098"/>
            <a:ext cx="342900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Daily Expenses Across the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Granular daily outflow tracking generated directly from monthly bank statements.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8164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01 - 05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0354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₹3,450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4260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Groceries &amp; Rent Advance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8164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06 - 10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0354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₹1,850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4260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Soft Drink (₹200) &amp; Dining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9125" y="28164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11 - 15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5" y="30354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₹4,200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9125" y="34260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Fuel &amp; Utility Bills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2642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16 - 20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44832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₹2,100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8738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Subscriptions &amp; Retail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2642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21 - 25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44832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₹1,600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48738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Medical &amp; Travel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9125" y="4264223"/>
            <a:ext cx="3690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DAY 26 - 31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9125" y="4483298"/>
            <a:ext cx="369093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₹3,300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9125" y="4873823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Weekend Social Outings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83098"/>
            <a:ext cx="5543550" cy="21717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48450" y="2425898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48450" y="3511748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48450" y="4597598"/>
            <a:ext cx="4781550" cy="9144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Monthly Aggregates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Comprehensive macro view generated from the bank statement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40298"/>
            <a:ext cx="5976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TOTAL MONTHLY OUTFLOW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45098"/>
            <a:ext cx="5976937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4500" b="1" i="0" u="none">
                <a:solidFill>
                  <a:srgbClr val="FFFFFF"/>
                </a:solidFill>
                <a:latin typeface="Plus Jakarta Sans"/>
              </a:rPr>
              <a:t>₹42,500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68998"/>
            <a:ext cx="5976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Calculated across 31 recorded transaction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2664023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Food &amp; Dining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2921198"/>
            <a:ext cx="5305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₹8,200 total expenditure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6575" y="3749873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Utilities &amp; Fuel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4007048"/>
            <a:ext cx="5305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₹14,300 total expenditure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4835723"/>
            <a:ext cx="5305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Miscellaneous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5092898"/>
            <a:ext cx="5305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₹20,000 total expenditure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78323"/>
            <a:ext cx="51816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8323"/>
            <a:ext cx="518160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168848"/>
            <a:ext cx="495300" cy="49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3168848"/>
            <a:ext cx="495300" cy="49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Debt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Keep track of money borrowed and lent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892748"/>
            <a:ext cx="550068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₹5,000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540448"/>
            <a:ext cx="5500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Borrowed from peer for emergency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892748"/>
            <a:ext cx="5500687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₹2,500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4540448"/>
            <a:ext cx="5500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Lent to colleague for shared dinner.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225" y="3202185"/>
            <a:ext cx="14601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Debt Taken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225" y="3459360"/>
            <a:ext cx="1390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Liabilities to settle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5" y="3202185"/>
            <a:ext cx="18002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Debt Given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5" y="3459360"/>
            <a:ext cx="1714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Receivables to collect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06949" y="2615505"/>
            <a:ext cx="3378249" cy="2706885"/>
          </a:xfrm>
          <a:prstGeom prst="roundRect">
            <a:avLst>
              <a:gd name="adj" fmla="val 7037"/>
            </a:avLst>
          </a:prstGeom>
          <a:solidFill>
            <a:srgbClr val="FFFFFF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733675"/>
            <a:ext cx="3378249" cy="2470695"/>
          </a:xfrm>
          <a:prstGeom prst="roundRect">
            <a:avLst>
              <a:gd name="adj" fmla="val 7710"/>
            </a:avLst>
          </a:prstGeom>
          <a:solidFill>
            <a:srgbClr val="FFFFFF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086100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296793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324" y="3086100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322897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2249" y="311080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1011" y="3228975"/>
            <a:ext cx="1619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Uncommon &amp;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975270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Automated identification of atypical transactions and irregular outlays.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Spike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Flags single transactions exceeding 3x average spending threshold (e.g. ₹18,500 annual device purchase).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369183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Hidden Recurring Bills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374" y="4025205"/>
            <a:ext cx="276864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Surfaces dormant subscriptions or auto-renewals that occur infrequently (e.g. ₹1,200 quarterly domain fee).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24" y="3810000"/>
            <a:ext cx="35088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Unfamiliar Vendors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4143375"/>
            <a:ext cx="2768649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Highlights new or unknown merchant handles for manual review and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53100" y="469389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1D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126009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2297459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57982" y="3002309"/>
            <a:ext cx="8276034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Take Control of Your Finances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5062" y="3741390"/>
            <a:ext cx="7381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Automated statements, daily breakdowns, anomaly flagging, and precise debt tracking in one platform.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61</TotalTime>
  <Words>722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Century Gothic</vt:lpstr>
      <vt:lpstr>Garamond</vt:lpstr>
      <vt:lpstr>Plus Jakarta Sans</vt:lpstr>
      <vt:lpstr>monospace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prakash jha</cp:lastModifiedBy>
  <cp:revision>3</cp:revision>
  <dcterms:created xsi:type="dcterms:W3CDTF">2013-01-27T09:14:16Z</dcterms:created>
  <dcterms:modified xsi:type="dcterms:W3CDTF">2026-10-10T11:06:11Z</dcterms:modified>
  <cp:category/>
</cp:coreProperties>
</file>